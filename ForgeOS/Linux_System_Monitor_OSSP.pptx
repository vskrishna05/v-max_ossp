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8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1771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E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28016" cy="128016"/>
          </a:xfrm>
          <a:prstGeom prst="ellipse">
            <a:avLst/>
          </a:prstGeom>
          <a:solidFill>
            <a:srgbClr val="FFF3DC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" y="292608"/>
            <a:ext cx="128016" cy="128016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" y="292608"/>
            <a:ext cx="128016" cy="128016"/>
          </a:xfrm>
          <a:prstGeom prst="ellipse">
            <a:avLst/>
          </a:prstGeom>
          <a:solidFill>
            <a:srgbClr val="F26B1D"/>
          </a:solidFill>
          <a:ln/>
        </p:spPr>
      </p:sp>
      <p:sp>
        <p:nvSpPr>
          <p:cNvPr id="5" name="Shape 3"/>
          <p:cNvSpPr/>
          <p:nvPr/>
        </p:nvSpPr>
        <p:spPr>
          <a:xfrm>
            <a:off x="5212080" y="3840480"/>
            <a:ext cx="1188720" cy="118872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0" y="320040"/>
            <a:ext cx="731520" cy="731520"/>
          </a:xfrm>
          <a:prstGeom prst="ellipse">
            <a:avLst/>
          </a:prstGeom>
          <a:solidFill>
            <a:srgbClr val="F26B1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777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OSSP · 25CS2104E · SECTION 08 · TEAM 13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18872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System Information &amp; Resource Monitoring Tool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661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E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and Systems Programming · 2026–27, Term-I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77840" y="685800"/>
            <a:ext cx="3017520" cy="3886200"/>
          </a:xfrm>
          <a:prstGeom prst="roundRect">
            <a:avLst>
              <a:gd name="adj" fmla="val 3636"/>
            </a:avLst>
          </a:prstGeom>
          <a:solidFill>
            <a:srgbClr val="FFF3DC"/>
          </a:solidFill>
          <a:ln/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852160" y="914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1371600"/>
            <a:ext cx="457200" cy="45720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521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Venkata Sai Krishna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1627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2520030027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52160" y="2121408"/>
            <a:ext cx="457200" cy="457200"/>
          </a:xfrm>
          <a:prstGeom prst="ellipse">
            <a:avLst/>
          </a:prstGeom>
          <a:solidFill>
            <a:srgbClr val="F26B1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85216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1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1214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Pujith Pavan Kumar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2377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2520030029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52160" y="2871216"/>
            <a:ext cx="457200" cy="45720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852160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1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28712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Ajai Manikanta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1272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2520030320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52160" y="3621024"/>
            <a:ext cx="457200" cy="457200"/>
          </a:xfrm>
          <a:prstGeom prst="ellipse">
            <a:avLst/>
          </a:prstGeom>
          <a:solidFill>
            <a:srgbClr val="8E1B1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852160" y="3621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36210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Bandla Vinay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3877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2520030437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3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28016" cy="128016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" y="292608"/>
            <a:ext cx="128016" cy="128016"/>
          </a:xfrm>
          <a:prstGeom prst="ellipse">
            <a:avLst/>
          </a:prstGeom>
          <a:solidFill>
            <a:srgbClr val="F26B1D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" y="292608"/>
            <a:ext cx="128016" cy="128016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943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1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291840" cy="3017520"/>
          </a:xfrm>
          <a:prstGeom prst="roundRect">
            <a:avLst>
              <a:gd name="adj" fmla="val 3636"/>
            </a:avLst>
          </a:prstGeom>
          <a:solidFill>
            <a:srgbClr val="FFB800"/>
          </a:solidFill>
          <a:ln/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73736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1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menu.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3B1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tool.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3B1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in one place.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731520" cy="73152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73736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25780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B1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Competing processes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257800" y="18470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processes share CPU, memory and disk at once.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97680" y="2606040"/>
            <a:ext cx="731520" cy="73152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27889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57800" y="2560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B1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for beginners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5257800" y="28986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 struggle to see where resources go.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297680" y="3657600"/>
            <a:ext cx="731520" cy="73152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38404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257800" y="3611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B1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Scattered commands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5257800" y="39502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commands make monitoring inconvenient.</a:t>
            </a:r>
            <a:endParaRPr lang="en-US" sz="1400" dirty="0"/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3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28016" cy="128016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" y="292608"/>
            <a:ext cx="128016" cy="128016"/>
          </a:xfrm>
          <a:prstGeom prst="ellipse">
            <a:avLst/>
          </a:prstGeom>
          <a:solidFill>
            <a:srgbClr val="F26B1D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" y="292608"/>
            <a:ext cx="128016" cy="128016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943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1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FFE2B0"/>
          </a:solidFill>
          <a:ln/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847088"/>
            <a:ext cx="640080" cy="64008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2007108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4592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3B1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20574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CPU, memory, disk usage and running processes.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63440" y="146304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FFE2B0"/>
          </a:solidFill>
          <a:ln/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92040" y="1847088"/>
            <a:ext cx="640080" cy="640080"/>
          </a:xfrm>
          <a:prstGeom prst="ellipse">
            <a:avLst/>
          </a:prstGeom>
          <a:solidFill>
            <a:srgbClr val="F26B1D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200710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76072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3B1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5760720" y="20574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live data through Linux interfaces such as /proc.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306324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FFE2B0"/>
          </a:solidFill>
          <a:ln/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3447288"/>
            <a:ext cx="640080" cy="640080"/>
          </a:xfrm>
          <a:prstGeom prst="ellipse">
            <a:avLst/>
          </a:prstGeom>
          <a:solidFill>
            <a:srgbClr val="8E1B1B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3607308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45920" y="3291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3B1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1645920" y="36576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process, memory, file system and system call concepts.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663440" y="306324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FFE2B0"/>
          </a:solidFill>
          <a:ln/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92040" y="3447288"/>
            <a:ext cx="640080" cy="64008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2060" y="3607308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760720" y="3291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3B1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5760720" y="36576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simple, user-friendly C-based monitoring tool.</a:t>
            </a:r>
            <a:endParaRPr lang="en-US" sz="1300" dirty="0"/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3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28016" cy="128016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" y="292608"/>
            <a:ext cx="128016" cy="128016"/>
          </a:xfrm>
          <a:prstGeom prst="ellipse">
            <a:avLst/>
          </a:prstGeom>
          <a:solidFill>
            <a:srgbClr val="F26B1D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" y="292608"/>
            <a:ext cx="128016" cy="128016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943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1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737360" cy="1600200"/>
          </a:xfrm>
          <a:prstGeom prst="roundRect">
            <a:avLst>
              <a:gd name="adj" fmla="val 6857"/>
            </a:avLst>
          </a:prstGeom>
          <a:solidFill>
            <a:srgbClr val="C1272D"/>
          </a:solidFill>
          <a:ln/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554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03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choice 1–7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59152" y="2084832"/>
            <a:ext cx="219456" cy="219456"/>
          </a:xfrm>
          <a:prstGeom prst="rightArrow">
            <a:avLst/>
          </a:prstGeom>
          <a:solidFill>
            <a:srgbClr val="3B1D12"/>
          </a:solidFill>
          <a:ln/>
        </p:spPr>
      </p:sp>
      <p:sp>
        <p:nvSpPr>
          <p:cNvPr id="11" name="Shape 9"/>
          <p:cNvSpPr/>
          <p:nvPr/>
        </p:nvSpPr>
        <p:spPr>
          <a:xfrm>
            <a:off x="2651760" y="1417320"/>
            <a:ext cx="1737360" cy="1600200"/>
          </a:xfrm>
          <a:prstGeom prst="roundRect">
            <a:avLst>
              <a:gd name="adj" fmla="val 6857"/>
            </a:avLst>
          </a:prstGeom>
          <a:solidFill>
            <a:srgbClr val="F26B1D"/>
          </a:solidFill>
          <a:ln/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834640" y="1554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3B1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2103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/proc and system calls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62272" y="2084832"/>
            <a:ext cx="219456" cy="219456"/>
          </a:xfrm>
          <a:prstGeom prst="rightArrow">
            <a:avLst/>
          </a:prstGeom>
          <a:solidFill>
            <a:srgbClr val="3B1D12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1417320"/>
            <a:ext cx="1737360" cy="1600200"/>
          </a:xfrm>
          <a:prstGeom prst="roundRect">
            <a:avLst>
              <a:gd name="adj" fmla="val 6857"/>
            </a:avLst>
          </a:prstGeom>
          <a:solidFill>
            <a:srgbClr val="FFB800"/>
          </a:solidFill>
          <a:ln/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937760" y="1554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3B1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2103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Data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usage and status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65392" y="2084832"/>
            <a:ext cx="219456" cy="219456"/>
          </a:xfrm>
          <a:prstGeom prst="rightArrow">
            <a:avLst/>
          </a:prstGeom>
          <a:solidFill>
            <a:srgbClr val="3B1D12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0" y="1417320"/>
            <a:ext cx="1737360" cy="1600200"/>
          </a:xfrm>
          <a:prstGeom prst="roundRect">
            <a:avLst>
              <a:gd name="adj" fmla="val 6857"/>
            </a:avLst>
          </a:prstGeom>
          <a:solidFill>
            <a:srgbClr val="8E1B1B"/>
          </a:solidFill>
          <a:ln/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040880" y="1554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2103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Results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clear, formatted output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70332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37033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(WSL2)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286000" y="3703320"/>
            <a:ext cx="640080" cy="384048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286000" y="37033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108960" y="370332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108960" y="37033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14800" y="370332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114800" y="37033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394960" y="370332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394960" y="37033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Terminal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4343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under varied system conditions to verify every reading.</a:t>
            </a:r>
            <a:endParaRPr lang="en-US" sz="1400" dirty="0"/>
          </a:p>
        </p:txBody>
      </p:sp>
    </p:spTree>
  </p:cSld>
  <p:clrMapOvr>
    <a:masterClrMapping/>
  </p:clrMapOvr>
  <p:transition spd="med">
    <p:spli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3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28016" cy="128016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" y="292608"/>
            <a:ext cx="128016" cy="128016"/>
          </a:xfrm>
          <a:prstGeom prst="ellipse">
            <a:avLst/>
          </a:prstGeom>
          <a:solidFill>
            <a:srgbClr val="F26B1D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" y="292608"/>
            <a:ext cx="128016" cy="128016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94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1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Concepts &amp; Linux APIs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651760" cy="530352"/>
          </a:xfrm>
          <a:prstGeom prst="roundRect">
            <a:avLst>
              <a:gd name="adj" fmla="val 17241"/>
            </a:avLst>
          </a:prstGeom>
          <a:solidFill>
            <a:srgbClr val="C127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37160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Management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5212080" cy="530352"/>
          </a:xfrm>
          <a:prstGeom prst="roundRect">
            <a:avLst>
              <a:gd name="adj" fmla="val 17241"/>
            </a:avLst>
          </a:prstGeom>
          <a:solidFill>
            <a:srgbClr val="FFE2B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66160" y="1371600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PIDs, states and a parent–child tree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029968"/>
            <a:ext cx="2651760" cy="530352"/>
          </a:xfrm>
          <a:prstGeom prst="roundRect">
            <a:avLst>
              <a:gd name="adj" fmla="val 17241"/>
            </a:avLst>
          </a:prstGeom>
          <a:solidFill>
            <a:srgbClr val="8E1B1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02996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 Filesystem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83280" y="2029968"/>
            <a:ext cx="5212080" cy="530352"/>
          </a:xfrm>
          <a:prstGeom prst="roundRect">
            <a:avLst>
              <a:gd name="adj" fmla="val 17241"/>
            </a:avLst>
          </a:prstGeom>
          <a:solidFill>
            <a:srgbClr val="FFE2B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66160" y="2029968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CPU, memory, uptime and process data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688336"/>
            <a:ext cx="2651760" cy="530352"/>
          </a:xfrm>
          <a:prstGeom prst="roundRect">
            <a:avLst>
              <a:gd name="adj" fmla="val 17241"/>
            </a:avLst>
          </a:prstGeom>
          <a:solidFill>
            <a:srgbClr val="C127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268833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83280" y="2688336"/>
            <a:ext cx="5212080" cy="530352"/>
          </a:xfrm>
          <a:prstGeom prst="roundRect">
            <a:avLst>
              <a:gd name="adj" fmla="val 17241"/>
            </a:avLst>
          </a:prstGeom>
          <a:solidFill>
            <a:srgbClr val="FFE2B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566160" y="2688336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uname(), statvfs(), sysconf(), select()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346704"/>
            <a:ext cx="2651760" cy="530352"/>
          </a:xfrm>
          <a:prstGeom prst="roundRect">
            <a:avLst>
              <a:gd name="adj" fmla="val 17241"/>
            </a:avLst>
          </a:prstGeom>
          <a:solidFill>
            <a:srgbClr val="8E1B1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334670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83280" y="3346704"/>
            <a:ext cx="5212080" cy="530352"/>
          </a:xfrm>
          <a:prstGeom prst="roundRect">
            <a:avLst>
              <a:gd name="adj" fmla="val 17241"/>
            </a:avLst>
          </a:prstGeom>
          <a:solidFill>
            <a:srgbClr val="FFE2B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566160" y="3346704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used and available RAM plus swap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005072"/>
            <a:ext cx="2651760" cy="530352"/>
          </a:xfrm>
          <a:prstGeom prst="roundRect">
            <a:avLst>
              <a:gd name="adj" fmla="val 17241"/>
            </a:avLst>
          </a:prstGeom>
          <a:solidFill>
            <a:srgbClr val="C1272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400507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383280" y="4005072"/>
            <a:ext cx="5212080" cy="530352"/>
          </a:xfrm>
          <a:prstGeom prst="roundRect">
            <a:avLst>
              <a:gd name="adj" fmla="val 17241"/>
            </a:avLst>
          </a:prstGeom>
          <a:solidFill>
            <a:srgbClr val="FFE2B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566160" y="4005072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space and inode usage</a:t>
            </a:r>
            <a:endParaRPr lang="en-US" sz="1400" dirty="0"/>
          </a:p>
        </p:txBody>
      </p:sp>
    </p:spTree>
  </p:cSld>
  <p:clrMapOvr>
    <a:masterClrMapping/>
  </p:clrMapOvr>
  <p:transition spd="med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3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28016" cy="128016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" y="292608"/>
            <a:ext cx="128016" cy="128016"/>
          </a:xfrm>
          <a:prstGeom prst="ellipse">
            <a:avLst/>
          </a:prstGeom>
          <a:solidFill>
            <a:srgbClr val="F26B1D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" y="292608"/>
            <a:ext cx="128016" cy="128016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94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1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Contributions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828800" cy="2834640"/>
          </a:xfrm>
          <a:prstGeom prst="roundRect">
            <a:avLst>
              <a:gd name="adj" fmla="val 6000"/>
            </a:avLst>
          </a:prstGeom>
          <a:solidFill>
            <a:srgbClr val="FFE2B0"/>
          </a:solidFill>
          <a:ln/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00200"/>
            <a:ext cx="822960" cy="82296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06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B1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Venkata Sai Krishna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004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monitoring and system information module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21585" y="1371600"/>
            <a:ext cx="1828800" cy="2834640"/>
          </a:xfrm>
          <a:prstGeom prst="roundRect">
            <a:avLst>
              <a:gd name="adj" fmla="val 6000"/>
            </a:avLst>
          </a:prstGeom>
          <a:solidFill>
            <a:srgbClr val="FFE2B0"/>
          </a:solidFill>
          <a:ln/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58745" y="1600200"/>
            <a:ext cx="822960" cy="822960"/>
          </a:xfrm>
          <a:prstGeom prst="ellipse">
            <a:avLst/>
          </a:prstGeom>
          <a:solidFill>
            <a:srgbClr val="F26B1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58745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B1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2758745" y="2606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B1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Pujith Pavan Kumar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758745" y="32004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planning, system information and overall integration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94530" y="1371600"/>
            <a:ext cx="1828800" cy="2834640"/>
          </a:xfrm>
          <a:prstGeom prst="roundRect">
            <a:avLst>
              <a:gd name="adj" fmla="val 6000"/>
            </a:avLst>
          </a:prstGeom>
          <a:solidFill>
            <a:srgbClr val="FFE2B0"/>
          </a:solidFill>
          <a:ln/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31690" y="1600200"/>
            <a:ext cx="822960" cy="82296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3169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B1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4831690" y="2606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B1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Ajai Manikanta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831690" y="32004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and memory monitoring module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67474" y="1371600"/>
            <a:ext cx="1828800" cy="2834640"/>
          </a:xfrm>
          <a:prstGeom prst="roundRect">
            <a:avLst>
              <a:gd name="adj" fmla="val 6000"/>
            </a:avLst>
          </a:prstGeom>
          <a:solidFill>
            <a:srgbClr val="FFE2B0"/>
          </a:solidFill>
          <a:ln/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04634" y="1600200"/>
            <a:ext cx="822960" cy="822960"/>
          </a:xfrm>
          <a:prstGeom prst="ellipse">
            <a:avLst/>
          </a:prstGeom>
          <a:solidFill>
            <a:srgbClr val="8E1B1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904634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6904634" y="2606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B1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Bandla Vinay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904634" y="32004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monitoring, testing and documentation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members, one integrated tool.</a:t>
            </a:r>
            <a:endParaRPr lang="en-US" sz="1400" dirty="0"/>
          </a:p>
        </p:txBody>
      </p:sp>
    </p:spTree>
  </p:cSld>
  <p:clrMapOvr>
    <a:masterClrMapping/>
  </p:clrMapOvr>
  <p:transition spd="med">
    <p:zoom dir="in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3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28016" cy="128016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" y="292608"/>
            <a:ext cx="128016" cy="128016"/>
          </a:xfrm>
          <a:prstGeom prst="ellipse">
            <a:avLst/>
          </a:prstGeom>
          <a:solidFill>
            <a:srgbClr val="F26B1D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" y="292608"/>
            <a:ext cx="128016" cy="128016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943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1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Menu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options in one clean interface. Invalid input is caught, and every feature offers return or exit.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0896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26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31089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in one menu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0" y="777240"/>
            <a:ext cx="4480560" cy="3659213"/>
          </a:xfrm>
          <a:prstGeom prst="roundRect">
            <a:avLst>
              <a:gd name="adj" fmla="val 2499"/>
            </a:avLst>
          </a:prstGeom>
          <a:solidFill>
            <a:srgbClr val="EDE6DA"/>
          </a:solidFill>
          <a:ln w="12700">
            <a:solidFill>
              <a:srgbClr val="BDB2A2"/>
            </a:solidFill>
            <a:prstDash val="solid"/>
          </a:ln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42816" y="8778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1" name="Shape 9"/>
          <p:cNvSpPr/>
          <p:nvPr/>
        </p:nvSpPr>
        <p:spPr>
          <a:xfrm>
            <a:off x="4425696" y="8778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2" name="Shape 10"/>
          <p:cNvSpPr/>
          <p:nvPr/>
        </p:nvSpPr>
        <p:spPr>
          <a:xfrm>
            <a:off x="4608576" y="8778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46320" y="868680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— bash</a:t>
            </a:r>
            <a:endParaRPr lang="en-US" sz="800" dirty="0"/>
          </a:p>
        </p:txBody>
      </p:sp>
      <p:pic>
        <p:nvPicPr>
          <p:cNvPr id="14" name="Image 0" descr="/mnt/user-data/uploads/1790225481482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9664" y="1088136"/>
            <a:ext cx="4370832" cy="329345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3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28016" cy="128016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" y="292608"/>
            <a:ext cx="128016" cy="128016"/>
          </a:xfrm>
          <a:prstGeom prst="ellipse">
            <a:avLst/>
          </a:prstGeom>
          <a:solidFill>
            <a:srgbClr val="F26B1D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" y="292608"/>
            <a:ext cx="128016" cy="128016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777240"/>
            <a:ext cx="3931920" cy="3740039"/>
          </a:xfrm>
          <a:prstGeom prst="roundRect">
            <a:avLst>
              <a:gd name="adj" fmla="val 2445"/>
            </a:avLst>
          </a:prstGeom>
          <a:solidFill>
            <a:srgbClr val="EDE6DA"/>
          </a:solidFill>
          <a:ln w="12700">
            <a:solidFill>
              <a:srgbClr val="BDB2A2"/>
            </a:solidFill>
            <a:prstDash val="solid"/>
          </a:ln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8778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8778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042416" y="8778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80160" y="868680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— bash</a:t>
            </a:r>
            <a:endParaRPr lang="en-US" sz="800" dirty="0"/>
          </a:p>
        </p:txBody>
      </p:sp>
      <p:pic>
        <p:nvPicPr>
          <p:cNvPr id="10" name="Image 0" descr="/mnt/user-data/uploads/1790225491392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088136"/>
            <a:ext cx="3822192" cy="3374279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937760" y="5943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3B1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Information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4937760" y="16916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OS, kernel, architecture, hostname, CPU model, cores, frequency and user details, gathered from the system.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937760" y="329184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937760" y="32918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uname()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35040" y="329184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035040" y="32918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/proc/cpuinfo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543800" y="329184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543800" y="32918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sysconf()</a:t>
            </a:r>
            <a:endParaRPr lang="en-US" sz="1200" dirty="0"/>
          </a:p>
        </p:txBody>
      </p:sp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3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28016" cy="128016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" y="292608"/>
            <a:ext cx="128016" cy="128016"/>
          </a:xfrm>
          <a:prstGeom prst="ellipse">
            <a:avLst/>
          </a:prstGeom>
          <a:solidFill>
            <a:srgbClr val="F26B1D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" y="292608"/>
            <a:ext cx="128016" cy="128016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943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3B1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CPU Monitor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/proc/stat twice, one second apart, and computes usage from the difference. Press End to stop.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661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26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s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3566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gap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0" y="777240"/>
            <a:ext cx="4937760" cy="3896850"/>
          </a:xfrm>
          <a:prstGeom prst="roundRect">
            <a:avLst>
              <a:gd name="adj" fmla="val 2347"/>
            </a:avLst>
          </a:prstGeom>
          <a:solidFill>
            <a:srgbClr val="EDE6DA"/>
          </a:solidFill>
          <a:ln w="12700">
            <a:solidFill>
              <a:srgbClr val="BDB2A2"/>
            </a:solidFill>
            <a:prstDash val="solid"/>
          </a:ln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85616" y="8778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1" name="Shape 9"/>
          <p:cNvSpPr/>
          <p:nvPr/>
        </p:nvSpPr>
        <p:spPr>
          <a:xfrm>
            <a:off x="3968496" y="8778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2" name="Shape 10"/>
          <p:cNvSpPr/>
          <p:nvPr/>
        </p:nvSpPr>
        <p:spPr>
          <a:xfrm>
            <a:off x="4151376" y="8778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89120" y="868680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— bash</a:t>
            </a:r>
            <a:endParaRPr lang="en-US" sz="800" dirty="0"/>
          </a:p>
        </p:txBody>
      </p:sp>
      <p:pic>
        <p:nvPicPr>
          <p:cNvPr id="14" name="Image 0" descr="/mnt/user-data/uploads/1790225537947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464" y="1088136"/>
            <a:ext cx="4828032" cy="353109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3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28016" cy="128016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" y="292608"/>
            <a:ext cx="128016" cy="128016"/>
          </a:xfrm>
          <a:prstGeom prst="ellipse">
            <a:avLst/>
          </a:prstGeom>
          <a:solidFill>
            <a:srgbClr val="F26B1D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" y="292608"/>
            <a:ext cx="128016" cy="128016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02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1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Disk &amp; Uptime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188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 </a:t>
            </a:r>
            <a:r>
              <a:rPr lang="en-US" sz="1200" dirty="0">
                <a:solidFill>
                  <a:srgbClr val="3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Space, status and inode usage through statvfs().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1188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 </a:t>
            </a:r>
            <a:r>
              <a:rPr lang="en-US" sz="1200" dirty="0">
                <a:solidFill>
                  <a:srgbClr val="3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seconds, plus CPU time since boot.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1737360"/>
            <a:ext cx="3200400" cy="3032568"/>
          </a:xfrm>
          <a:prstGeom prst="roundRect">
            <a:avLst>
              <a:gd name="adj" fmla="val 3015"/>
            </a:avLst>
          </a:prstGeom>
          <a:solidFill>
            <a:srgbClr val="EDE6DA"/>
          </a:solidFill>
          <a:ln w="12700">
            <a:solidFill>
              <a:srgbClr val="BDB2A2"/>
            </a:solidFill>
            <a:prstDash val="solid"/>
          </a:ln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42416" y="18379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8"/>
          <p:cNvSpPr/>
          <p:nvPr/>
        </p:nvSpPr>
        <p:spPr>
          <a:xfrm>
            <a:off x="1225296" y="18379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9"/>
          <p:cNvSpPr/>
          <p:nvPr/>
        </p:nvSpPr>
        <p:spPr>
          <a:xfrm>
            <a:off x="1408176" y="18379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645920" y="182880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— bash</a:t>
            </a:r>
            <a:endParaRPr lang="en-US" sz="800" dirty="0"/>
          </a:p>
        </p:txBody>
      </p:sp>
      <p:pic>
        <p:nvPicPr>
          <p:cNvPr id="13" name="Image 0" descr="/mnt/user-data/uploads/179022556976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048256"/>
            <a:ext cx="3090672" cy="266680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029200" y="1737360"/>
            <a:ext cx="3200400" cy="2854794"/>
          </a:xfrm>
          <a:prstGeom prst="roundRect">
            <a:avLst>
              <a:gd name="adj" fmla="val 3203"/>
            </a:avLst>
          </a:prstGeom>
          <a:solidFill>
            <a:srgbClr val="EDE6DA"/>
          </a:solidFill>
          <a:ln w="12700">
            <a:solidFill>
              <a:srgbClr val="BDB2A2"/>
            </a:solidFill>
            <a:prstDash val="solid"/>
          </a:ln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157216" y="18379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3"/>
          <p:cNvSpPr/>
          <p:nvPr/>
        </p:nvSpPr>
        <p:spPr>
          <a:xfrm>
            <a:off x="5340096" y="18379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7" name="Shape 14"/>
          <p:cNvSpPr/>
          <p:nvPr/>
        </p:nvSpPr>
        <p:spPr>
          <a:xfrm>
            <a:off x="5522976" y="18379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760720" y="182880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— bash</a:t>
            </a:r>
            <a:endParaRPr lang="en-US" sz="800" dirty="0"/>
          </a:p>
        </p:txBody>
      </p:sp>
      <p:pic>
        <p:nvPicPr>
          <p:cNvPr id="19" name="Image 1" descr="/mnt/user-data/uploads/1790225663652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064" y="2048256"/>
            <a:ext cx="3090672" cy="2489034"/>
          </a:xfrm>
          <a:prstGeom prst="rect">
            <a:avLst/>
          </a:prstGeom>
        </p:spPr>
      </p:pic>
    </p:spTree>
  </p:cSld>
  <p:clrMapOvr>
    <a:masterClrMapping/>
  </p:clrMapOvr>
  <p:transition spd="med">
    <p:spli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3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28016" cy="128016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" y="292608"/>
            <a:ext cx="128016" cy="128016"/>
          </a:xfrm>
          <a:prstGeom prst="ellipse">
            <a:avLst/>
          </a:prstGeom>
          <a:solidFill>
            <a:srgbClr val="F26B1D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" y="292608"/>
            <a:ext cx="128016" cy="128016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943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1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Monitor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/proc for every running PID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PID, PPID and process state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running, sleeping and stopped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a parent–child process tree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4754880" cy="1005840"/>
          </a:xfrm>
          <a:prstGeom prst="roundRect">
            <a:avLst>
              <a:gd name="adj" fmla="val 10909"/>
            </a:avLst>
          </a:prstGeom>
          <a:solidFill>
            <a:srgbClr val="FFB800"/>
          </a:solidFill>
          <a:ln/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3611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26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3611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captured, 1 running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97880" y="777240"/>
            <a:ext cx="2697480" cy="3904433"/>
          </a:xfrm>
          <a:prstGeom prst="roundRect">
            <a:avLst>
              <a:gd name="adj" fmla="val 3390"/>
            </a:avLst>
          </a:prstGeom>
          <a:solidFill>
            <a:srgbClr val="EDE6DA"/>
          </a:solidFill>
          <a:ln w="12700">
            <a:solidFill>
              <a:srgbClr val="BDB2A2"/>
            </a:solidFill>
            <a:prstDash val="solid"/>
          </a:ln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25896" y="8778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2" name="Shape 10"/>
          <p:cNvSpPr/>
          <p:nvPr/>
        </p:nvSpPr>
        <p:spPr>
          <a:xfrm>
            <a:off x="6208776" y="8778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391656" y="8778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29400" y="86868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— bash</a:t>
            </a:r>
            <a:endParaRPr lang="en-US" sz="800" dirty="0"/>
          </a:p>
        </p:txBody>
      </p:sp>
      <p:pic>
        <p:nvPicPr>
          <p:cNvPr id="15" name="Image 0" descr="/mnt/user-data/uploads/179022564730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744" y="1088136"/>
            <a:ext cx="2587752" cy="3538673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8E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28016" cy="128016"/>
          </a:xfrm>
          <a:prstGeom prst="ellipse">
            <a:avLst/>
          </a:prstGeom>
          <a:solidFill>
            <a:srgbClr val="FFF3DC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" y="292608"/>
            <a:ext cx="128016" cy="128016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" y="292608"/>
            <a:ext cx="128016" cy="128016"/>
          </a:xfrm>
          <a:prstGeom prst="ellipse">
            <a:avLst/>
          </a:prstGeom>
          <a:solidFill>
            <a:srgbClr val="F26B1D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0" y="548640"/>
            <a:ext cx="731520" cy="731520"/>
          </a:xfrm>
          <a:prstGeom prst="ellipse">
            <a:avLst/>
          </a:prstGeom>
          <a:solidFill>
            <a:srgbClr val="F26B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640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E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reliable monitor that turns Operating Systems theory into practical Linux skills.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2496312" cy="1371600"/>
          </a:xfrm>
          <a:prstGeom prst="roundRect">
            <a:avLst>
              <a:gd name="adj" fmla="val 8000"/>
            </a:avLst>
          </a:prstGeom>
          <a:solidFill>
            <a:srgbClr val="FFF3DC"/>
          </a:solidFill>
          <a:ln/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25603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modules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19272" y="2423160"/>
            <a:ext cx="2496312" cy="1371600"/>
          </a:xfrm>
          <a:prstGeom prst="roundRect">
            <a:avLst>
              <a:gd name="adj" fmla="val 8000"/>
            </a:avLst>
          </a:prstGeom>
          <a:solidFill>
            <a:srgbClr val="FFF3DC"/>
          </a:solidFill>
          <a:ln/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547872" y="25603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options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9904" y="2423160"/>
            <a:ext cx="2496312" cy="1371600"/>
          </a:xfrm>
          <a:prstGeom prst="roundRect">
            <a:avLst>
              <a:gd name="adj" fmla="val 8000"/>
            </a:avLst>
          </a:prstGeom>
          <a:solidFill>
            <a:srgbClr val="FFF3DC"/>
          </a:solidFill>
          <a:ln/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318504" y="25603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6318504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/proc and syscalls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5852160" cy="502920"/>
          </a:xfrm>
          <a:prstGeom prst="roundRect">
            <a:avLst>
              <a:gd name="adj" fmla="val 49091"/>
            </a:avLst>
          </a:prstGeom>
          <a:solidFill>
            <a:srgbClr val="FFB8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1148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· V-max-OSSP/V-Max_OSSP_Project</a:t>
            </a:r>
            <a:endParaRPr lang="en-US" sz="1400" dirty="0"/>
          </a:p>
        </p:txBody>
      </p:sp>
    </p:spTree>
  </p:cSld>
  <p:clrMapOvr>
    <a:masterClrMapping/>
  </p:clrMapOvr>
  <p:transition spd="med">
    <p:zoom dir="in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514</Words>
  <Application>Microsoft Office PowerPoint</Application>
  <PresentationFormat>On-screen Show (16:9)</PresentationFormat>
  <Paragraphs>130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Information and Resource Monitoring Tool</dc:title>
  <dc:subject>PptxGenJS Presentation</dc:subject>
  <dc:creator>PptxGenJS</dc:creator>
  <cp:lastModifiedBy>Venkat Sai Krishna</cp:lastModifiedBy>
  <cp:revision>2</cp:revision>
  <dcterms:created xsi:type="dcterms:W3CDTF">2026-09-24T04:58:16Z</dcterms:created>
  <dcterms:modified xsi:type="dcterms:W3CDTF">2026-09-24T05:07:56Z</dcterms:modified>
</cp:coreProperties>
</file>